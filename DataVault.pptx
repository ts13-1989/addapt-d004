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bril Fatface Italics" charset="1" panose="02000503000000020003"/>
      <p:regular r:id="rId25"/>
    </p:embeddedFont>
    <p:embeddedFont>
      <p:font typeface="Rustic Printed" charset="1" panose="00000000000000000000"/>
      <p:regular r:id="rId26"/>
    </p:embeddedFont>
    <p:embeddedFont>
      <p:font typeface="Canva Sans Bold" charset="1" panose="020B0803030501040103"/>
      <p:regular r:id="rId27"/>
    </p:embeddedFont>
    <p:embeddedFont>
      <p:font typeface="Canva Sans" charset="1" panose="020B0503030501040103"/>
      <p:regular r:id="rId28"/>
    </p:embeddedFont>
    <p:embeddedFont>
      <p:font typeface="Atkinson Hyperlegible Italics" charset="1" panose="00000000000000000000"/>
      <p:regular r:id="rId29"/>
    </p:embeddedFont>
    <p:embeddedFont>
      <p:font typeface="Radley" charset="1" panose="00000500000000000000"/>
      <p:regular r:id="rId30"/>
    </p:embeddedFont>
    <p:embeddedFont>
      <p:font typeface="Atkinson Hyperlegible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75462" cy="824630"/>
          </a:xfrm>
          <a:custGeom>
            <a:avLst/>
            <a:gdLst/>
            <a:ahLst/>
            <a:cxnLst/>
            <a:rect r="r" b="b" t="t" l="l"/>
            <a:pathLst>
              <a:path h="824630" w="675462">
                <a:moveTo>
                  <a:pt x="0" y="0"/>
                </a:moveTo>
                <a:lnTo>
                  <a:pt x="675462" y="0"/>
                </a:lnTo>
                <a:lnTo>
                  <a:pt x="675462" y="824630"/>
                </a:lnTo>
                <a:lnTo>
                  <a:pt x="0" y="82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11642">
            <a:off x="13066159" y="359808"/>
            <a:ext cx="10443683" cy="8487866"/>
          </a:xfrm>
          <a:custGeom>
            <a:avLst/>
            <a:gdLst/>
            <a:ahLst/>
            <a:cxnLst/>
            <a:rect r="r" b="b" t="t" l="l"/>
            <a:pathLst>
              <a:path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18441" y="9258300"/>
            <a:ext cx="9727319" cy="3106962"/>
          </a:xfrm>
          <a:custGeom>
            <a:avLst/>
            <a:gdLst/>
            <a:ahLst/>
            <a:cxnLst/>
            <a:rect r="r" b="b" t="t" l="l"/>
            <a:pathLst>
              <a:path h="3106962" w="9727319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4162" y="1078950"/>
            <a:ext cx="26142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i="true">
                <a:solidFill>
                  <a:srgbClr val="004AAD"/>
                </a:solidFill>
                <a:latin typeface="Abril Fatface Italics"/>
                <a:ea typeface="Abril Fatface Italics"/>
                <a:cs typeface="Abril Fatface Italics"/>
                <a:sym typeface="Abril Fatface Italics"/>
              </a:rPr>
              <a:t>Liceria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7033" y="2528532"/>
            <a:ext cx="11640770" cy="503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71"/>
              </a:lnSpc>
              <a:spcBef>
                <a:spcPct val="0"/>
              </a:spcBef>
            </a:pPr>
            <a:r>
              <a:rPr lang="en-US" sz="3979">
                <a:solidFill>
                  <a:srgbClr val="000000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In India, millions of digital users—especially students, gig workers, and rural earners—actively transact through UPI yet remain ineligible for formal credit due to a lack of traditional credit history. Banks and NBFCs struggle to evaluate such users’ repayment capability, resulting in credit exclusion or unreliable micro-lending based on incomplete data.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1070"/>
            <a:ext cx="551045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57521" y="4819967"/>
            <a:ext cx="55729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57250"/>
            <a:ext cx="177677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2283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Market and customer segments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3216" y="471676"/>
            <a:ext cx="1444156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</a:t>
            </a: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value proposition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18466"/>
            <a:ext cx="182880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Other apps use smartphone data, telco info etc which may not be available for a majority of the people. Our product uses UPI + AePS transaction data which is widely available.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Explainable AI shows how each factor affects TrustScore &amp; Resilience.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Financial inclusion &amp; literacy - helping users qualify and improve over 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4936" y="857250"/>
            <a:ext cx="131653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model canvas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1343" y="2388074"/>
            <a:ext cx="16447957" cy="601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454" indent="-425727" lvl="1">
              <a:lnSpc>
                <a:spcPts val="6901"/>
              </a:lnSpc>
              <a:buFont typeface="Arial"/>
              <a:buChar char="•"/>
            </a:pPr>
            <a:r>
              <a:rPr lang="en-US" sz="3943" i="true">
                <a:solidFill>
                  <a:srgbClr val="000000"/>
                </a:solidFill>
                <a:latin typeface="Atkinson Hyperlegible Italics"/>
                <a:ea typeface="Atkinson Hyperlegible Italics"/>
                <a:cs typeface="Atkinson Hyperlegible Italics"/>
                <a:sym typeface="Atkinson Hyperlegible Italics"/>
              </a:rPr>
              <a:t>India’s fintech sector is witnessing explosive growth — UPI processes over ₹20 lakh crore in transactions every month</a:t>
            </a:r>
          </a:p>
          <a:p>
            <a:pPr algn="l" marL="851454" indent="-425727" lvl="1">
              <a:lnSpc>
                <a:spcPts val="6901"/>
              </a:lnSpc>
              <a:buFont typeface="Arial"/>
              <a:buChar char="•"/>
            </a:pPr>
            <a:r>
              <a:rPr lang="en-US" sz="3943" i="true">
                <a:solidFill>
                  <a:srgbClr val="000000"/>
                </a:solidFill>
                <a:latin typeface="Atkinson Hyperlegible Italics"/>
                <a:ea typeface="Atkinson Hyperlegible Italics"/>
                <a:cs typeface="Atkinson Hyperlegible Italics"/>
                <a:sym typeface="Atkinson Hyperlegible Italics"/>
              </a:rPr>
              <a:t> Yet, nearly 300 million Indians remain credit-invisible, unable to access formal loans due to a lack of credit history, despite active UPI use.</a:t>
            </a:r>
          </a:p>
          <a:p>
            <a:pPr algn="l" marL="851454" indent="-425727" lvl="1">
              <a:lnSpc>
                <a:spcPts val="6901"/>
              </a:lnSpc>
              <a:buFont typeface="Arial"/>
              <a:buChar char="•"/>
            </a:pPr>
            <a:r>
              <a:rPr lang="en-US" sz="3943" i="true">
                <a:solidFill>
                  <a:srgbClr val="000000"/>
                </a:solidFill>
                <a:latin typeface="Atkinson Hyperlegible Italics"/>
                <a:ea typeface="Atkinson Hyperlegible Italics"/>
                <a:cs typeface="Atkinson Hyperlegible Italics"/>
                <a:sym typeface="Atkinson Hyperlegible Italics"/>
              </a:rPr>
              <a:t>The digital lending market in India is projected to surpass ₹29 lakh crore by 2028, growing at a 25% annual rate.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5014" y="159703"/>
            <a:ext cx="822692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Market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7353" y="264465"/>
            <a:ext cx="15251947" cy="9339440"/>
          </a:xfrm>
          <a:custGeom>
            <a:avLst/>
            <a:gdLst/>
            <a:ahLst/>
            <a:cxnLst/>
            <a:rect r="r" b="b" t="t" l="l"/>
            <a:pathLst>
              <a:path h="9339440" w="15251947">
                <a:moveTo>
                  <a:pt x="0" y="0"/>
                </a:moveTo>
                <a:lnTo>
                  <a:pt x="15251947" y="0"/>
                </a:lnTo>
                <a:lnTo>
                  <a:pt x="15251947" y="9339440"/>
                </a:lnTo>
                <a:lnTo>
                  <a:pt x="0" y="933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1" t="0" r="-611" b="-331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0295" y="138641"/>
            <a:ext cx="14265177" cy="10009718"/>
          </a:xfrm>
          <a:custGeom>
            <a:avLst/>
            <a:gdLst/>
            <a:ahLst/>
            <a:cxnLst/>
            <a:rect r="r" b="b" t="t" l="l"/>
            <a:pathLst>
              <a:path h="10009718" w="14265177">
                <a:moveTo>
                  <a:pt x="0" y="0"/>
                </a:moveTo>
                <a:lnTo>
                  <a:pt x="14265178" y="0"/>
                </a:lnTo>
                <a:lnTo>
                  <a:pt x="14265178" y="10009718"/>
                </a:lnTo>
                <a:lnTo>
                  <a:pt x="0" y="10009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17" r="-628" b="-121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75015"/>
            <a:ext cx="15008461" cy="851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7479" indent="-378739" lvl="1">
              <a:lnSpc>
                <a:spcPts val="5683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Transforms UPI transaction data into financial credibility using AI models that classify expenses into needs, wants, and savings.</a:t>
            </a:r>
          </a:p>
          <a:p>
            <a:pPr algn="just" marL="757479" indent="-378739" lvl="1">
              <a:lnSpc>
                <a:spcPts val="5683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Generates dual financial metrics —</a:t>
            </a:r>
          </a:p>
          <a:p>
            <a:pPr algn="just" marL="1514957" indent="-504986" lvl="2">
              <a:lnSpc>
                <a:spcPts val="5683"/>
              </a:lnSpc>
              <a:buFont typeface="Arial"/>
              <a:buChar char="⚬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TrustScore: Measures financial discipline.</a:t>
            </a:r>
          </a:p>
          <a:p>
            <a:pPr algn="just" marL="1514957" indent="-504986" lvl="2">
              <a:lnSpc>
                <a:spcPts val="5683"/>
              </a:lnSpc>
              <a:buFont typeface="Arial"/>
              <a:buChar char="⚬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Financial Resilience Meter: Evaluates income stability and credit-handling capacity.</a:t>
            </a:r>
          </a:p>
          <a:p>
            <a:pPr algn="just" marL="757479" indent="-378739" lvl="1">
              <a:lnSpc>
                <a:spcPts val="5683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Provides personalized insights &amp; smart recommendations to help users improve financial habits and boost loan eligibility.</a:t>
            </a:r>
          </a:p>
          <a:p>
            <a:pPr algn="just" marL="757479" indent="-378739" lvl="1">
              <a:lnSpc>
                <a:spcPts val="5683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Integrates with RBI’s Account Aggregator Framework ensuring consent-based, secure, and privacy-compliant data use.</a:t>
            </a:r>
          </a:p>
          <a:p>
            <a:pPr algn="just" marL="757479" indent="-378739" lvl="1">
              <a:lnSpc>
                <a:spcPts val="5683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Bridges the gap between users and financial institutions by enabling data-backed, fair, and inclusive lending decision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59703"/>
            <a:ext cx="1176932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Proposed Solution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260" y="418462"/>
            <a:ext cx="107620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Competitive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481" y="2586686"/>
            <a:ext cx="17264516" cy="711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Cre</a:t>
            </a: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ditVidya - Uses alternative data to help banks assess customers, more tailored towards urban customers who have digital footprint.</a:t>
            </a:r>
          </a:p>
          <a:p>
            <a:pPr algn="l">
              <a:lnSpc>
                <a:spcPts val="3588"/>
              </a:lnSpc>
            </a:pP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LenddoEFL - Uses social and psychometric data</a:t>
            </a:r>
          </a:p>
          <a:p>
            <a:pPr algn="l">
              <a:lnSpc>
                <a:spcPts val="3588"/>
              </a:lnSpc>
            </a:pP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Perfios / Anumati (Account Aggregator, a potential infra partner) - Provides APIs for banks to access financial data with user consent.</a:t>
            </a:r>
          </a:p>
          <a:p>
            <a:pPr algn="l">
              <a:lnSpc>
                <a:spcPts val="3588"/>
              </a:lnSpc>
            </a:pPr>
          </a:p>
          <a:p>
            <a:pPr algn="l">
              <a:lnSpc>
                <a:spcPts val="3588"/>
              </a:lnSpc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How our product overcomes these challenges: </a:t>
            </a: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Our platform uses UPI + AEPS data, which even rural users already generate + visual charts. </a:t>
            </a: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Most of the time, competitors use a black-box algorithm which doesnt allow for user feedback.</a:t>
            </a:r>
          </a:p>
          <a:p>
            <a:pPr algn="l">
              <a:lnSpc>
                <a:spcPts val="3588"/>
              </a:lnSpc>
            </a:pP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It’s an AI-driven scoring + insight platform that any bank or MFI can use.</a:t>
            </a:r>
          </a:p>
          <a:p>
            <a:pPr algn="l">
              <a:lnSpc>
                <a:spcPts val="3588"/>
              </a:lnSpc>
            </a:pPr>
          </a:p>
          <a:p>
            <a:pPr algn="l" marL="553358" indent="-276679" lvl="1">
              <a:lnSpc>
                <a:spcPts val="3588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 </a:t>
            </a:r>
            <a:r>
              <a:rPr lang="en-US" sz="2563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platform could integrate AA data and add AI-based behavioral analytics and TrustScore insights.</a:t>
            </a:r>
          </a:p>
          <a:p>
            <a:pPr algn="l">
              <a:lnSpc>
                <a:spcPts val="330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19406"/>
            <a:ext cx="18288000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projection (is it same as cost analysis?? - only include if applicable)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802" y="3011545"/>
            <a:ext cx="16598085" cy="6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608" indent="-347304" lvl="1">
              <a:lnSpc>
                <a:spcPts val="6273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Partner institutions (banks, NBFCs, fintechs) purchase data-analysis credits in bulk to access the dashboard’s AI-driven TrustScore and Financial Resilience evaluations.</a:t>
            </a:r>
          </a:p>
          <a:p>
            <a:pPr algn="l" marL="694608" indent="-347304" lvl="1">
              <a:lnSpc>
                <a:spcPts val="6273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Each credit allows them to analyze one user’s financial behavior or verify digital creditworthiness.</a:t>
            </a:r>
          </a:p>
          <a:p>
            <a:pPr algn="l" marL="694608" indent="-347304" lvl="1">
              <a:lnSpc>
                <a:spcPts val="6273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Bulk purchases ensure scalability and recurring revenue as financial institutions onboard more users.</a:t>
            </a:r>
          </a:p>
          <a:p>
            <a:pPr algn="l" marL="694608" indent="-347304" lvl="1">
              <a:lnSpc>
                <a:spcPts val="6273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Flexible pricing tiers based on volume of credits and feature access (e.g., API integration, dashboard analytics, risk reports).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0047" y="159703"/>
            <a:ext cx="948883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Proposed Solution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315" y="2533268"/>
            <a:ext cx="12061738" cy="728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2855" indent="-34142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Over 65% of India’s population resides in rural and semi-urban regions, where formal credit access remains under 10% despite growing digital adoption.</a:t>
            </a:r>
          </a:p>
          <a:p>
            <a:pPr algn="just">
              <a:lnSpc>
                <a:spcPts val="4427"/>
              </a:lnSpc>
            </a:pPr>
          </a:p>
          <a:p>
            <a:pPr algn="just" marL="682855" indent="-34142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Rapid smartphone penetration  and widespread UPI usage have created a massive untapped base with digital transaction footprints but no credit history.</a:t>
            </a:r>
          </a:p>
          <a:p>
            <a:pPr algn="just">
              <a:lnSpc>
                <a:spcPts val="4427"/>
              </a:lnSpc>
            </a:pPr>
          </a:p>
          <a:p>
            <a:pPr algn="just" marL="682855" indent="-34142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These regions are witnessing a surge in government-backed digitization drives and financial inclusion schemes, yet traditional credit scoring systems fail to represent these users accurately.</a:t>
            </a:r>
          </a:p>
          <a:p>
            <a:pPr algn="just">
              <a:lnSpc>
                <a:spcPts val="442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3907" y="159703"/>
            <a:ext cx="717604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Target Market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447331"/>
            <a:ext cx="15606620" cy="9071664"/>
          </a:xfrm>
          <a:custGeom>
            <a:avLst/>
            <a:gdLst/>
            <a:ahLst/>
            <a:cxnLst/>
            <a:rect r="r" b="b" t="t" l="l"/>
            <a:pathLst>
              <a:path h="9071664" w="15606620">
                <a:moveTo>
                  <a:pt x="0" y="0"/>
                </a:moveTo>
                <a:lnTo>
                  <a:pt x="15606620" y="0"/>
                </a:lnTo>
                <a:lnTo>
                  <a:pt x="15606620" y="9071664"/>
                </a:lnTo>
                <a:lnTo>
                  <a:pt x="0" y="9071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23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5280" y="1988275"/>
            <a:ext cx="6522429" cy="6310450"/>
          </a:xfrm>
          <a:custGeom>
            <a:avLst/>
            <a:gdLst/>
            <a:ahLst/>
            <a:cxnLst/>
            <a:rect r="r" b="b" t="t" l="l"/>
            <a:pathLst>
              <a:path h="6310450" w="6522429">
                <a:moveTo>
                  <a:pt x="0" y="0"/>
                </a:moveTo>
                <a:lnTo>
                  <a:pt x="6522429" y="0"/>
                </a:lnTo>
                <a:lnTo>
                  <a:pt x="6522429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435" y="4193450"/>
            <a:ext cx="13384039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30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1. Strategic Partnerships (B2B2C model)</a:t>
            </a:r>
          </a:p>
          <a:p>
            <a:pPr algn="l">
              <a:lnSpc>
                <a:spcPts val="6600"/>
              </a:lnSpc>
            </a:pPr>
          </a:p>
          <a:p>
            <a:pPr algn="l">
              <a:lnSpc>
                <a:spcPts val="6600"/>
              </a:lnSpc>
            </a:pPr>
            <a:r>
              <a:rPr lang="en-US" sz="30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2. Government &amp; CSR Integration</a:t>
            </a:r>
          </a:p>
          <a:p>
            <a:pPr algn="l">
              <a:lnSpc>
                <a:spcPts val="6600"/>
              </a:lnSpc>
            </a:pPr>
          </a:p>
          <a:p>
            <a:pPr algn="l">
              <a:lnSpc>
                <a:spcPts val="6600"/>
              </a:lnSpc>
            </a:pPr>
            <a:r>
              <a:rPr lang="en-US" sz="30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3. UPI Ecosystem Leverage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8435" y="857250"/>
            <a:ext cx="1167884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Go to Market Stratergy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826" y="159703"/>
            <a:ext cx="1374209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Final Financial Projection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8044" y="1735538"/>
            <a:ext cx="15169921" cy="699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92"/>
              </a:lnSpc>
            </a:pPr>
            <a:r>
              <a:rPr lang="en-US" sz="44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Assumptions</a:t>
            </a:r>
          </a:p>
          <a:p>
            <a:pPr algn="just" marL="906842" indent="-453421" lvl="1">
              <a:lnSpc>
                <a:spcPts val="705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You sell</a:t>
            </a:r>
            <a:r>
              <a:rPr lang="en-US" sz="4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to MFIs, rural banks, and cooperatives.</a:t>
            </a:r>
          </a:p>
          <a:p>
            <a:pPr algn="just" marL="906842" indent="-453421" lvl="1">
              <a:lnSpc>
                <a:spcPts val="705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Each year’s growth is mainly in the number of partner institutions, while reports per institution stay roughly constant (≈1000 each).</a:t>
            </a:r>
          </a:p>
          <a:p>
            <a:pPr algn="just" marL="906842" indent="-453421" lvl="1">
              <a:lnSpc>
                <a:spcPts val="705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Price per report: ₹30</a:t>
            </a:r>
          </a:p>
          <a:p>
            <a:pPr algn="just" marL="906842" indent="-453421" lvl="1">
              <a:lnSpc>
                <a:spcPts val="705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Cost per report: ₹15</a:t>
            </a:r>
          </a:p>
          <a:p>
            <a:pPr algn="just">
              <a:lnSpc>
                <a:spcPts val="5712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990" y="2190013"/>
            <a:ext cx="16672021" cy="5906974"/>
          </a:xfrm>
          <a:custGeom>
            <a:avLst/>
            <a:gdLst/>
            <a:ahLst/>
            <a:cxnLst/>
            <a:rect r="r" b="b" t="t" l="l"/>
            <a:pathLst>
              <a:path h="5906974" w="16672021">
                <a:moveTo>
                  <a:pt x="0" y="0"/>
                </a:moveTo>
                <a:lnTo>
                  <a:pt x="16672020" y="0"/>
                </a:lnTo>
                <a:lnTo>
                  <a:pt x="16672020" y="5906974"/>
                </a:lnTo>
                <a:lnTo>
                  <a:pt x="0" y="590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8826" y="159703"/>
            <a:ext cx="1018373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Yearly Breakdown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3289" y="606251"/>
            <a:ext cx="113814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used comet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80911"/>
            <a:ext cx="15662077" cy="31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636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Used Comet Browser to gather research materials and references efficiently.</a:t>
            </a:r>
          </a:p>
          <a:p>
            <a:pPr algn="l" marL="755647" indent="-377824" lvl="1">
              <a:lnSpc>
                <a:spcPts val="636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Accessed real-time data and documentation for project development.</a:t>
            </a:r>
          </a:p>
          <a:p>
            <a:pPr algn="l" marL="755647" indent="-377824" lvl="1">
              <a:lnSpc>
                <a:spcPts val="636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Utilized it for collaborative web browsing and sharing research findings.</a:t>
            </a:r>
          </a:p>
          <a:p>
            <a:pPr algn="l" marL="755647" indent="-377824" lvl="1">
              <a:lnSpc>
                <a:spcPts val="636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Helped in testing and previewing our web-based project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DAG3gIn7XEM</dc:identifier>
  <dcterms:modified xsi:type="dcterms:W3CDTF">2011-08-01T06:04:30Z</dcterms:modified>
  <cp:revision>1</cp:revision>
  <dc:title>Company</dc:title>
</cp:coreProperties>
</file>